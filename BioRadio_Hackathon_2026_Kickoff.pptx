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320040" cy="32004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0"/>
            <a:ext cx="731520" cy="7315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1097280"/>
            <a:ext cx="1371600" cy="73152"/>
          </a:xfrm>
          <a:prstGeom prst="rect">
            <a:avLst/>
          </a:prstGeom>
          <a:solidFill>
            <a:srgbClr val="00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B4C8"/>
                </a:solidFill>
                <a:latin typeface="Calibri"/>
              </a:rPr>
              <a:t>BioRadio</a:t>
            </a:r>
            <a:r>
              <a:rPr sz="5400" b="1">
                <a:solidFill>
                  <a:srgbClr val="FFFFFF"/>
                </a:solidFill>
                <a:latin typeface="Calibri"/>
              </a:rPr>
              <a:t>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00D2E6"/>
                </a:solidFill>
                <a:latin typeface="Calibri"/>
              </a:defRPr>
            </a:pPr>
            <a:r>
              <a:t>From Biosignals to Real-Time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297680"/>
            <a:ext cx="393192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00B4C8"/>
                </a:solidFill>
                <a:latin typeface="Calibri"/>
              </a:rPr>
              <a:t>⏱  </a:t>
            </a:r>
            <a:r>
              <a:rPr sz="2400" b="1">
                <a:solidFill>
                  <a:srgbClr val="B4C8DC"/>
                </a:solidFill>
                <a:latin typeface="Calibri"/>
              </a:rPr>
              <a:t>24-Hour Build 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6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What You'll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E6F8FA"/>
          </a:solidFill>
          <a:ln w="19050"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2850"/>
                </a:solidFill>
                <a:latin typeface="Calibri"/>
              </a:defRPr>
            </a:pPr>
            <a:r>
              <a:t>Biosignals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646E82"/>
                </a:solidFill>
                <a:latin typeface="Calibri"/>
              </a:defRPr>
            </a:pPr>
            <a:r>
              <a:t>(BioRadio)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6080" y="2423160"/>
            <a:ext cx="548640" cy="274320"/>
          </a:xfrm>
          <a:prstGeom prst="rightArrow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2850"/>
                </a:solidFill>
                <a:latin typeface="Calibri"/>
              </a:defRPr>
            </a:pPr>
            <a:r>
              <a:t>Feature</a:t>
            </a:r>
            <a:br/>
            <a: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646E82"/>
                </a:solidFill>
                <a:latin typeface="Calibri"/>
              </a:defRPr>
            </a:pPr>
            <a:r>
              <a:t>(your code)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2423160"/>
            <a:ext cx="548640" cy="274320"/>
          </a:xfrm>
          <a:prstGeom prst="rightArrow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2850"/>
                </a:solidFill>
                <a:latin typeface="Calibri"/>
              </a:defRPr>
            </a:pPr>
            <a:r>
              <a:t>ML</a:t>
            </a:r>
            <a:br/>
            <a:r>
              <a:t>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646E82"/>
                </a:solidFill>
                <a:latin typeface="Calibri"/>
              </a:defRPr>
            </a:pPr>
            <a:r>
              <a:t>(trained model)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69680" y="2423160"/>
            <a:ext cx="548640" cy="274320"/>
          </a:xfrm>
          <a:prstGeom prst="rightArrow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55480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2850"/>
                </a:solidFill>
                <a:latin typeface="Calibri"/>
              </a:defRPr>
            </a:pPr>
            <a:r>
              <a:t>Control</a:t>
            </a:r>
            <a:br/>
            <a:r>
              <a:t>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646E82"/>
                </a:solidFill>
                <a:latin typeface="Calibri"/>
              </a:defRPr>
            </a:pPr>
            <a:r>
              <a:t>(your choice)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2000"/>
              </a:spcBef>
            </a:pPr>
            <a:r>
              <a:rPr sz="2200" b="1">
                <a:solidFill>
                  <a:srgbClr val="00B4C8"/>
                </a:solidFill>
                <a:latin typeface="Calibri"/>
              </a:rPr>
              <a:t>Collect biosignal data</a:t>
            </a:r>
            <a:r>
              <a:rPr sz="2200">
                <a:solidFill>
                  <a:srgbClr val="1E1E32"/>
                </a:solidFill>
                <a:latin typeface="Calibri"/>
              </a:rPr>
              <a:t>, </a:t>
            </a:r>
            <a:r>
              <a:rPr sz="2200" b="1">
                <a:solidFill>
                  <a:srgbClr val="00B4C8"/>
                </a:solidFill>
                <a:latin typeface="Calibri"/>
              </a:rPr>
              <a:t>train a classifier</a:t>
            </a:r>
            <a:r>
              <a:rPr sz="2200">
                <a:solidFill>
                  <a:srgbClr val="1E1E32"/>
                </a:solidFill>
                <a:latin typeface="Calibri"/>
              </a:rPr>
              <a:t>, and use the output to </a:t>
            </a:r>
            <a:r>
              <a:rPr sz="2200" b="1">
                <a:solidFill>
                  <a:srgbClr val="00B4C8"/>
                </a:solidFill>
                <a:latin typeface="Calibri"/>
              </a:rPr>
              <a:t>control something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Signal Types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3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55448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457200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 anchor="ctr" marL="109728" marR="109728" marT="54864" marB="54864">
                    <a:solidFill>
                      <a:srgbClr val="142850"/>
                    </a:solidFill>
                    <a:lnL w="9525" cap="flat" cmpd="sng" algn="ctr">
                      <a:solidFill>
                        <a:srgbClr val="0F1E3C"/>
                      </a:solidFill>
                      <a:prstDash val="solid"/>
                    </a:lnL>
                    <a:lnR w="9525" cap="flat" cmpd="sng" algn="ctr">
                      <a:solidFill>
                        <a:srgbClr val="0F1E3C"/>
                      </a:solidFill>
                      <a:prstDash val="solid"/>
                    </a:lnR>
                    <a:lnT w="9525" cap="flat" cmpd="sng" algn="ctr">
                      <a:solidFill>
                        <a:srgbClr val="0F1E3C"/>
                      </a:solidFill>
                      <a:prstDash val="solid"/>
                    </a:lnT>
                    <a:lnB w="9525" cap="flat" cmpd="sng" algn="ctr">
                      <a:solidFill>
                        <a:srgbClr val="0F1E3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anchor="ctr" marL="109728" marR="109728" marT="54864" marB="54864">
                    <a:solidFill>
                      <a:srgbClr val="142850"/>
                    </a:solidFill>
                    <a:lnL w="9525" cap="flat" cmpd="sng" algn="ctr">
                      <a:solidFill>
                        <a:srgbClr val="0F1E3C"/>
                      </a:solidFill>
                      <a:prstDash val="solid"/>
                    </a:lnL>
                    <a:lnR w="9525" cap="flat" cmpd="sng" algn="ctr">
                      <a:solidFill>
                        <a:srgbClr val="0F1E3C"/>
                      </a:solidFill>
                      <a:prstDash val="solid"/>
                    </a:lnR>
                    <a:lnT w="9525" cap="flat" cmpd="sng" algn="ctr">
                      <a:solidFill>
                        <a:srgbClr val="0F1E3C"/>
                      </a:solidFill>
                      <a:prstDash val="solid"/>
                    </a:lnT>
                    <a:lnB w="9525" cap="flat" cmpd="sng" algn="ctr">
                      <a:solidFill>
                        <a:srgbClr val="0F1E3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Typical Use</a:t>
                      </a:r>
                    </a:p>
                  </a:txBody>
                  <a:tcPr anchor="ctr" marL="109728" marR="109728" marT="54864" marB="54864">
                    <a:solidFill>
                      <a:srgbClr val="142850"/>
                    </a:solidFill>
                    <a:lnL w="9525" cap="flat" cmpd="sng" algn="ctr">
                      <a:solidFill>
                        <a:srgbClr val="0F1E3C"/>
                      </a:solidFill>
                      <a:prstDash val="solid"/>
                    </a:lnL>
                    <a:lnR w="9525" cap="flat" cmpd="sng" algn="ctr">
                      <a:solidFill>
                        <a:srgbClr val="0F1E3C"/>
                      </a:solidFill>
                      <a:prstDash val="solid"/>
                    </a:lnR>
                    <a:lnT w="9525" cap="flat" cmpd="sng" algn="ctr">
                      <a:solidFill>
                        <a:srgbClr val="0F1E3C"/>
                      </a:solidFill>
                      <a:prstDash val="solid"/>
                    </a:lnT>
                    <a:lnB w="9525" cap="flat" cmpd="sng" algn="ctr">
                      <a:solidFill>
                        <a:srgbClr val="0F1E3C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EMG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Muscle electrical activity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Gesture control, prosthetics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EOG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Eye movement &amp; blinks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Gaze control, blink detection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EEG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Brain electrical activity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BCI, attention monitoring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GSR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Skin conductance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Stress detection, arousal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IMU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Acceleration &amp; rotation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Motion tracking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The Hackathon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112264"/>
            <a:ext cx="36576" cy="411480"/>
          </a:xfrm>
          <a:prstGeom prst="rect">
            <a:avLst/>
          </a:prstGeom>
          <a:solidFill>
            <a:srgbClr val="B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850"/>
                </a:solidFill>
                <a:latin typeface="Calibri"/>
              </a:rPr>
              <a:t>Data Collection</a:t>
            </a:r>
            <a:r>
              <a:rPr sz="1800">
                <a:solidFill>
                  <a:srgbClr val="646E82"/>
                </a:solidFill>
                <a:latin typeface="Calibri"/>
              </a:rPr>
              <a:t>  —  Use the hackathon GUI to record labeled training data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26664"/>
            <a:ext cx="36576" cy="411480"/>
          </a:xfrm>
          <a:prstGeom prst="rect">
            <a:avLst/>
          </a:prstGeom>
          <a:solidFill>
            <a:srgbClr val="B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468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850"/>
                </a:solidFill>
                <a:latin typeface="Calibri"/>
              </a:rPr>
              <a:t>Feature Extraction</a:t>
            </a:r>
            <a:r>
              <a:rPr sz="1800">
                <a:solidFill>
                  <a:srgbClr val="646E82"/>
                </a:solidFill>
                <a:latin typeface="Calibri"/>
              </a:rPr>
              <a:t>  —  Extract features (RMS, frequency bands, zero crossings, etc.)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941064"/>
            <a:ext cx="36576" cy="411480"/>
          </a:xfrm>
          <a:prstGeom prst="rect">
            <a:avLst/>
          </a:prstGeom>
          <a:solidFill>
            <a:srgbClr val="B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383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850"/>
                </a:solidFill>
                <a:latin typeface="Calibri"/>
              </a:rPr>
              <a:t>Model Training</a:t>
            </a:r>
            <a:r>
              <a:rPr sz="1800">
                <a:solidFill>
                  <a:srgbClr val="646E82"/>
                </a:solidFill>
                <a:latin typeface="Calibri"/>
              </a:rPr>
              <a:t>  —  Train a classifier (scikit-learn, PyTorch, TensorFlow, etc.)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855464"/>
            <a:ext cx="36576" cy="411480"/>
          </a:xfrm>
          <a:prstGeom prst="rect">
            <a:avLst/>
          </a:prstGeom>
          <a:solidFill>
            <a:srgbClr val="B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297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850"/>
                </a:solidFill>
                <a:latin typeface="Calibri"/>
              </a:rPr>
              <a:t>Real-Time Inference</a:t>
            </a:r>
            <a:r>
              <a:rPr sz="1800">
                <a:solidFill>
                  <a:srgbClr val="646E82"/>
                </a:solidFill>
                <a:latin typeface="Calibri"/>
              </a:rPr>
              <a:t>  —  Run your model on live BioRadio data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12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42850"/>
                </a:solidFill>
                <a:latin typeface="Calibri"/>
              </a:rPr>
              <a:t>Control</a:t>
            </a:r>
            <a:r>
              <a:rPr sz="1800">
                <a:solidFill>
                  <a:srgbClr val="646E82"/>
                </a:solidFill>
                <a:latin typeface="Calibri"/>
              </a:rPr>
              <a:t>  —  Map classifier outputs to actions in your chosen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73152" cy="86868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828800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1051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32"/>
                </a:solidFill>
                <a:latin typeface="Calibri"/>
              </a:defRPr>
            </a:pPr>
            <a:r>
              <a:t>Classifier must run in real-time during the demo (not pre-recorded)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73152" cy="86868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2926080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077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32"/>
                </a:solidFill>
                <a:latin typeface="Calibri"/>
              </a:defRPr>
            </a:pPr>
            <a:r>
              <a:t>Data must come from the BioRadio (not simulated for final demo)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73152" cy="86868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023360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0050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32"/>
                </a:solidFill>
                <a:latin typeface="Calibri"/>
              </a:defRPr>
            </a:pPr>
            <a:r>
              <a:t>You must collect your own training data (no pre-made datasets)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73152" cy="86868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5120640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023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1E32"/>
                </a:solidFill>
                <a:latin typeface="Calibri"/>
              </a:defRPr>
            </a:pPr>
            <a:r>
              <a:t>Any ML framework and any control target are allowed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822960" cy="822960"/>
          </a:xfrm>
          <a:prstGeom prst="ellipse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65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85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60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E82"/>
                </a:solidFill>
                <a:latin typeface="Calibri"/>
              </a:defRPr>
            </a:pPr>
            <a:r>
              <a:t>Working system that reads biosignals, runs a trained classifier, and controls something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4297680"/>
            <a:ext cx="822960" cy="822960"/>
          </a:xfrm>
          <a:prstGeom prst="ellipse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160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850"/>
                </a:solidFill>
                <a:latin typeface="Calibri"/>
              </a:defRPr>
            </a:pPr>
            <a:r>
              <a:t>Presentation (~5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754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E82"/>
                </a:solidFill>
                <a:latin typeface="Calibri"/>
              </a:defRPr>
            </a:pPr>
            <a:r>
              <a:t>Explain your approach, results, and what you learned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Judging Rubric (100 pts + 10 bonus)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  <a:latin typeface="Calibri"/>
              </a:defRPr>
            </a:pPr>
            <a:r>
              <a:t>ML Classifier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6858000" cy="365760"/>
          </a:xfrm>
          <a:prstGeom prst="roundRect">
            <a:avLst>
              <a:gd name="adj" fmla="val 40000"/>
            </a:avLst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6858000" cy="365760"/>
          </a:xfrm>
          <a:prstGeom prst="roundRect">
            <a:avLst>
              <a:gd name="adj" fmla="val 40000"/>
            </a:avLst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4C8"/>
                </a:solidFill>
                <a:latin typeface="Calibri"/>
              </a:defRPr>
            </a:pPr>
            <a:r>
              <a:t>30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  <a:latin typeface="Calibri"/>
              </a:defRPr>
            </a:pPr>
            <a:r>
              <a:t>Creativity &amp; Novelty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6858000" cy="365760"/>
          </a:xfrm>
          <a:prstGeom prst="roundRect">
            <a:avLst>
              <a:gd name="adj" fmla="val 40000"/>
            </a:avLst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5715000" cy="365760"/>
          </a:xfrm>
          <a:prstGeom prst="roundRect">
            <a:avLst>
              <a:gd name="adj" fmla="val 40000"/>
            </a:avLst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017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682B4"/>
                </a:solidFill>
                <a:latin typeface="Calibri"/>
              </a:defRPr>
            </a:pPr>
            <a:r>
              <a:t>25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  <a:latin typeface="Calibri"/>
              </a:defRPr>
            </a:pPr>
            <a:r>
              <a:t>User Experience &amp; System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6858000" cy="365760"/>
          </a:xfrm>
          <a:prstGeom prst="roundRect">
            <a:avLst>
              <a:gd name="adj" fmla="val 40000"/>
            </a:avLst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715000" cy="365760"/>
          </a:xfrm>
          <a:prstGeom prst="roundRect">
            <a:avLst>
              <a:gd name="adj" fmla="val 40000"/>
            </a:avLst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069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495ED"/>
                </a:solidFill>
                <a:latin typeface="Calibri"/>
              </a:defRPr>
            </a:pPr>
            <a:r>
              <a:t>25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  <a:latin typeface="Calibri"/>
              </a:defRPr>
            </a:pPr>
            <a:r>
              <a:t>Presentation Quality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6858000" cy="365760"/>
          </a:xfrm>
          <a:prstGeom prst="roundRect">
            <a:avLst>
              <a:gd name="adj" fmla="val 40000"/>
            </a:avLst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4572000" cy="365760"/>
          </a:xfrm>
          <a:prstGeom prst="roundRect">
            <a:avLst>
              <a:gd name="adj" fmla="val 40000"/>
            </a:avLst>
          </a:prstGeom>
          <a:solidFill>
            <a:srgbClr val="1E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120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C6E"/>
                </a:solidFill>
                <a:latin typeface="Calibri"/>
              </a:defRPr>
            </a:pPr>
            <a:r>
              <a:t>20 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03504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FFFAEB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1722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A500"/>
                </a:solidFill>
                <a:latin typeface="Calibri"/>
              </a:rPr>
              <a:t>★ </a:t>
            </a:r>
            <a:r>
              <a:rPr sz="2000" b="1">
                <a:solidFill>
                  <a:srgbClr val="142850"/>
                </a:solidFill>
                <a:latin typeface="Calibri"/>
              </a:rPr>
              <a:t>Up to +10 Bonus Points </a:t>
            </a:r>
            <a:r>
              <a:rPr sz="1600">
                <a:solidFill>
                  <a:srgbClr val="646E82"/>
                </a:solidFill>
                <a:latin typeface="Calibri"/>
              </a:rPr>
              <a:t>(multi-modal signals, cross-user generalization, adaptive learning, technical depth)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Scoring Breakdown — ML Classifier (30 pts)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646E82"/>
                </a:solidFill>
                <a:latin typeface="Calibri"/>
              </a:defRPr>
            </a:pPr>
            <a:r>
              <a:t>Judges look for: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32"/>
                </a:solidFill>
                <a:latin typeface="Calibri"/>
              </a:defRPr>
            </a:pPr>
            <a:r>
              <a:t>Number of distinct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32"/>
                </a:solidFill>
                <a:latin typeface="Calibri"/>
              </a:defRPr>
            </a:pPr>
            <a:r>
              <a:t>Reported accuracy / confusion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947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32"/>
                </a:solidFill>
                <a:latin typeface="Calibri"/>
              </a:defRPr>
            </a:pPr>
            <a:r>
              <a:t>Responsiveness (low latency)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32"/>
                </a:solidFill>
                <a:latin typeface="Calibri"/>
              </a:defRPr>
            </a:pPr>
            <a:r>
              <a:t>Handling transitions and resting 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7784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32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32"/>
                </a:solidFill>
                <a:latin typeface="Calibri"/>
              </a:defRPr>
            </a:pPr>
            <a:r>
              <a:t>Feature engineering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Scoring — Creativity &amp; 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303520" cy="59436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Creativity &amp; Novelty (25 pts)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1E1E32"/>
                </a:solidFill>
                <a:latin typeface="Calibri"/>
              </a:defRPr>
            </a:pPr>
            <a:r>
              <a:t>• Original application or approach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1E1E32"/>
                </a:solidFill>
                <a:latin typeface="Calibri"/>
              </a:defRPr>
            </a:pPr>
            <a:r>
              <a:t>• Creative use of biosignals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1E1E32"/>
                </a:solidFill>
                <a:latin typeface="Calibri"/>
              </a:defRPr>
            </a:pPr>
            <a:r>
              <a:t>• "Wow factor"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303520" cy="59436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276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User Experience (25 pts)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1E1E32"/>
                </a:solidFill>
                <a:latin typeface="Calibri"/>
              </a:defRPr>
            </a:pPr>
            <a:r>
              <a:t>• Intuitive and enjoyable to use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1E1E32"/>
                </a:solidFill>
                <a:latin typeface="Calibri"/>
              </a:defRPr>
            </a:pPr>
            <a:r>
              <a:t>• Clear feedback to the user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1E1E32"/>
                </a:solidFill>
                <a:latin typeface="Calibri"/>
              </a:defRPr>
            </a:pPr>
            <a:r>
              <a:t>• Handles errors gracefully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1E1E32"/>
                </a:solidFill>
                <a:latin typeface="Calibri"/>
              </a:defRPr>
            </a:pPr>
            <a:r>
              <a:t>• Easy calibration for new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10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554480"/>
          <a:ext cx="9875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589520"/>
              </a:tblGrid>
              <a:tr h="653142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 Block</a:t>
                      </a:r>
                    </a:p>
                  </a:txBody>
                  <a:tcPr anchor="ctr" marL="109728" marR="109728" marT="54864" marB="54864">
                    <a:solidFill>
                      <a:srgbClr val="142850"/>
                    </a:solidFill>
                    <a:lnL w="9525" cap="flat" cmpd="sng" algn="ctr">
                      <a:solidFill>
                        <a:srgbClr val="0F1E3C"/>
                      </a:solidFill>
                      <a:prstDash val="solid"/>
                    </a:lnL>
                    <a:lnR w="9525" cap="flat" cmpd="sng" algn="ctr">
                      <a:solidFill>
                        <a:srgbClr val="0F1E3C"/>
                      </a:solidFill>
                      <a:prstDash val="solid"/>
                    </a:lnR>
                    <a:lnT w="9525" cap="flat" cmpd="sng" algn="ctr">
                      <a:solidFill>
                        <a:srgbClr val="0F1E3C"/>
                      </a:solidFill>
                      <a:prstDash val="solid"/>
                    </a:lnT>
                    <a:lnB w="9525" cap="flat" cmpd="sng" algn="ctr">
                      <a:solidFill>
                        <a:srgbClr val="0F1E3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 anchor="ctr" marL="109728" marR="109728" marT="54864" marB="54864">
                    <a:solidFill>
                      <a:srgbClr val="142850"/>
                    </a:solidFill>
                    <a:lnL w="9525" cap="flat" cmpd="sng" algn="ctr">
                      <a:solidFill>
                        <a:srgbClr val="0F1E3C"/>
                      </a:solidFill>
                      <a:prstDash val="solid"/>
                    </a:lnL>
                    <a:lnR w="9525" cap="flat" cmpd="sng" algn="ctr">
                      <a:solidFill>
                        <a:srgbClr val="0F1E3C"/>
                      </a:solidFill>
                      <a:prstDash val="solid"/>
                    </a:lnR>
                    <a:lnT w="9525" cap="flat" cmpd="sng" algn="ctr">
                      <a:solidFill>
                        <a:srgbClr val="0F1E3C"/>
                      </a:solidFill>
                      <a:prstDash val="solid"/>
                    </a:lnT>
                    <a:lnB w="9525" cap="flat" cmpd="sng" algn="ctr">
                      <a:solidFill>
                        <a:srgbClr val="0F1E3C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Kickoff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Introduction, rules, BioRadio setup, team formation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Hours 1–4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Explore signals, collect data, initial prototyping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Hours 5–16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Development (data collection, feature engineering, model training, control)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Hours 17–22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Integration, testing, refinement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Hours 22–23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Prepare presentations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Hour 24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Demos &amp; presentations to judges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2039112"/>
            <a:ext cx="36576" cy="457200"/>
          </a:xfrm>
          <a:prstGeom prst="rect">
            <a:avLst/>
          </a:prstGeom>
          <a:solidFill>
            <a:srgbClr val="B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850"/>
                </a:solidFill>
                <a:latin typeface="Calibri"/>
              </a:rPr>
              <a:t>Install: </a:t>
            </a:r>
            <a:r>
              <a:rPr sz="1700" b="0">
                <a:solidFill>
                  <a:srgbClr val="00B4C8"/>
                </a:solidFill>
                <a:latin typeface="Consolas"/>
              </a:rPr>
              <a:t>conda env create -f environment.yml &amp;&amp; conda activate hackathon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542032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2999232"/>
            <a:ext cx="36576" cy="457200"/>
          </a:xfrm>
          <a:prstGeom prst="rect">
            <a:avLst/>
          </a:prstGeom>
          <a:solidFill>
            <a:srgbClr val="B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850"/>
                </a:solidFill>
                <a:latin typeface="Calibri"/>
              </a:rPr>
              <a:t>Launch GUI: </a:t>
            </a:r>
            <a:r>
              <a:rPr sz="1700" b="0">
                <a:solidFill>
                  <a:srgbClr val="00B4C8"/>
                </a:solidFill>
                <a:latin typeface="Consolas"/>
              </a:rPr>
              <a:t>python -m src.hackathon_gui --mock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02152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3959352"/>
            <a:ext cx="36576" cy="457200"/>
          </a:xfrm>
          <a:prstGeom prst="rect">
            <a:avLst/>
          </a:prstGeom>
          <a:solidFill>
            <a:srgbClr val="B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850"/>
                </a:solidFill>
                <a:latin typeface="Calibri"/>
              </a:rPr>
              <a:t>Connect, </a:t>
            </a:r>
            <a:r>
              <a:rPr sz="1900">
                <a:solidFill>
                  <a:srgbClr val="1E1E32"/>
                </a:solidFill>
                <a:latin typeface="Calibri"/>
              </a:rPr>
              <a:t>configure channels, start streaming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62272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4919472"/>
            <a:ext cx="36576" cy="457200"/>
          </a:xfrm>
          <a:prstGeom prst="rect">
            <a:avLst/>
          </a:prstGeom>
          <a:solidFill>
            <a:srgbClr val="B4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850"/>
                </a:solidFill>
                <a:latin typeface="Calibri"/>
              </a:rPr>
              <a:t>Stream to LSL: </a:t>
            </a:r>
            <a:r>
              <a:rPr sz="1900">
                <a:solidFill>
                  <a:srgbClr val="1E1E32"/>
                </a:solidFill>
                <a:latin typeface="Calibri"/>
              </a:rPr>
              <a:t>Check "Stream to LSL" to send data to your scripts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2850"/>
                </a:solidFill>
                <a:latin typeface="Calibri"/>
              </a:rPr>
              <a:t>Build </a:t>
            </a:r>
            <a:r>
              <a:rPr sz="1900">
                <a:solidFill>
                  <a:srgbClr val="1E1E32"/>
                </a:solidFill>
                <a:latin typeface="Calibri"/>
              </a:rPr>
              <a:t>your classifier and control system!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Tips for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7" name="Diamond 6"/>
          <p:cNvSpPr/>
          <p:nvPr/>
        </p:nvSpPr>
        <p:spPr>
          <a:xfrm>
            <a:off x="731520" y="1572768"/>
            <a:ext cx="201168" cy="201168"/>
          </a:xfrm>
          <a:prstGeom prst="diamond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850"/>
                </a:solidFill>
                <a:latin typeface="Calibri"/>
              </a:rPr>
              <a:t>Start collecting data early</a:t>
            </a:r>
            <a:r>
              <a:rPr sz="1900">
                <a:solidFill>
                  <a:srgbClr val="646E82"/>
                </a:solidFill>
                <a:latin typeface="Calibri"/>
              </a:rPr>
              <a:t> — </a:t>
            </a:r>
            <a:r>
              <a:rPr sz="1900">
                <a:solidFill>
                  <a:srgbClr val="646E82"/>
                </a:solidFill>
                <a:latin typeface="Calibri"/>
              </a:rPr>
              <a:t>your ML is only as good as your data</a:t>
            </a:r>
          </a:p>
        </p:txBody>
      </p:sp>
      <p:sp>
        <p:nvSpPr>
          <p:cNvPr id="9" name="Diamond 8"/>
          <p:cNvSpPr/>
          <p:nvPr/>
        </p:nvSpPr>
        <p:spPr>
          <a:xfrm>
            <a:off x="731520" y="2395728"/>
            <a:ext cx="201168" cy="201168"/>
          </a:xfrm>
          <a:prstGeom prst="diamond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850"/>
                </a:solidFill>
                <a:latin typeface="Calibri"/>
              </a:rPr>
              <a:t>Keep your classifier simple at first</a:t>
            </a:r>
            <a:r>
              <a:rPr sz="1900">
                <a:solidFill>
                  <a:srgbClr val="646E82"/>
                </a:solidFill>
                <a:latin typeface="Calibri"/>
              </a:rPr>
              <a:t> — </a:t>
            </a:r>
            <a:r>
              <a:rPr sz="1900">
                <a:solidFill>
                  <a:srgbClr val="646E82"/>
                </a:solidFill>
                <a:latin typeface="Calibri"/>
              </a:rPr>
              <a:t>2-class SVM that works &gt; 10-class DNN that doesn't</a:t>
            </a:r>
          </a:p>
        </p:txBody>
      </p:sp>
      <p:sp>
        <p:nvSpPr>
          <p:cNvPr id="11" name="Diamond 10"/>
          <p:cNvSpPr/>
          <p:nvPr/>
        </p:nvSpPr>
        <p:spPr>
          <a:xfrm>
            <a:off x="731520" y="3218688"/>
            <a:ext cx="201168" cy="201168"/>
          </a:xfrm>
          <a:prstGeom prst="diamond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850"/>
                </a:solidFill>
                <a:latin typeface="Calibri"/>
              </a:rPr>
              <a:t>Use mock mode (--mock) to develop</a:t>
            </a:r>
            <a:r>
              <a:rPr sz="1900">
                <a:solidFill>
                  <a:srgbClr val="646E82"/>
                </a:solidFill>
                <a:latin typeface="Calibri"/>
              </a:rPr>
              <a:t> — </a:t>
            </a:r>
            <a:r>
              <a:rPr sz="1900">
                <a:solidFill>
                  <a:srgbClr val="646E82"/>
                </a:solidFill>
                <a:latin typeface="Calibri"/>
              </a:rPr>
              <a:t>without hardware</a:t>
            </a:r>
          </a:p>
        </p:txBody>
      </p:sp>
      <p:sp>
        <p:nvSpPr>
          <p:cNvPr id="13" name="Diamond 12"/>
          <p:cNvSpPr/>
          <p:nvPr/>
        </p:nvSpPr>
        <p:spPr>
          <a:xfrm>
            <a:off x="731520" y="4041648"/>
            <a:ext cx="201168" cy="201168"/>
          </a:xfrm>
          <a:prstGeom prst="diamond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850"/>
                </a:solidFill>
                <a:latin typeface="Calibri"/>
              </a:rPr>
              <a:t>Budget time for integration</a:t>
            </a:r>
            <a:r>
              <a:rPr sz="1900">
                <a:solidFill>
                  <a:srgbClr val="646E82"/>
                </a:solidFill>
                <a:latin typeface="Calibri"/>
              </a:rPr>
              <a:t> — </a:t>
            </a:r>
            <a:r>
              <a:rPr sz="1900">
                <a:solidFill>
                  <a:srgbClr val="646E82"/>
                </a:solidFill>
                <a:latin typeface="Calibri"/>
              </a:rPr>
              <a:t>it always takes longer than expected</a:t>
            </a:r>
          </a:p>
        </p:txBody>
      </p:sp>
      <p:sp>
        <p:nvSpPr>
          <p:cNvPr id="15" name="Diamond 14"/>
          <p:cNvSpPr/>
          <p:nvPr/>
        </p:nvSpPr>
        <p:spPr>
          <a:xfrm>
            <a:off x="731520" y="4864608"/>
            <a:ext cx="201168" cy="201168"/>
          </a:xfrm>
          <a:prstGeom prst="diamond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7548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850"/>
                </a:solidFill>
                <a:latin typeface="Calibri"/>
              </a:rPr>
              <a:t>Have a backup plan</a:t>
            </a:r>
            <a:r>
              <a:rPr sz="1900">
                <a:solidFill>
                  <a:srgbClr val="646E82"/>
                </a:solidFill>
                <a:latin typeface="Calibri"/>
              </a:rPr>
              <a:t> — </a:t>
            </a:r>
            <a:r>
              <a:rPr sz="1900">
                <a:solidFill>
                  <a:srgbClr val="646E82"/>
                </a:solidFill>
                <a:latin typeface="Calibri"/>
              </a:rPr>
              <a:t>if ambitious approach fails, have a simpler version ready</a:t>
            </a:r>
          </a:p>
        </p:txBody>
      </p:sp>
      <p:sp>
        <p:nvSpPr>
          <p:cNvPr id="17" name="Diamond 16"/>
          <p:cNvSpPr/>
          <p:nvPr/>
        </p:nvSpPr>
        <p:spPr>
          <a:xfrm>
            <a:off x="731520" y="5687568"/>
            <a:ext cx="201168" cy="201168"/>
          </a:xfrm>
          <a:prstGeom prst="diamond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5778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42850"/>
                </a:solidFill>
                <a:latin typeface="Calibri"/>
              </a:rPr>
              <a:t>Test with a teammate</a:t>
            </a:r>
            <a:r>
              <a:rPr sz="1900">
                <a:solidFill>
                  <a:srgbClr val="646E82"/>
                </a:solidFill>
                <a:latin typeface="Calibri"/>
              </a:rPr>
              <a:t> — </a:t>
            </a:r>
            <a:r>
              <a:rPr sz="1900">
                <a:solidFill>
                  <a:srgbClr val="646E82"/>
                </a:solidFill>
                <a:latin typeface="Calibri"/>
              </a:rPr>
              <a:t>who didn't train the model (bonus points for cross-user generalization!)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50"/>
                </a:solidFill>
                <a:latin typeface="Calibri"/>
              </a:defRPr>
            </a:pPr>
            <a:r>
              <a:t>Bonus Points (up to +10)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E82"/>
                </a:solidFill>
                <a:latin typeface="Calibri"/>
              </a:defRPr>
            </a:pPr>
            <a:r>
              <a:t>13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554480"/>
          <a:ext cx="9875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2560320"/>
              </a:tblGrid>
              <a:tr h="694944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Bonus Category</a:t>
                      </a:r>
                    </a:p>
                  </a:txBody>
                  <a:tcPr anchor="ctr" marL="109728" marR="109728" marT="54864" marB="54864">
                    <a:solidFill>
                      <a:srgbClr val="142850"/>
                    </a:solidFill>
                    <a:lnL w="9525" cap="flat" cmpd="sng" algn="ctr">
                      <a:solidFill>
                        <a:srgbClr val="0F1E3C"/>
                      </a:solidFill>
                      <a:prstDash val="solid"/>
                    </a:lnL>
                    <a:lnR w="9525" cap="flat" cmpd="sng" algn="ctr">
                      <a:solidFill>
                        <a:srgbClr val="0F1E3C"/>
                      </a:solidFill>
                      <a:prstDash val="solid"/>
                    </a:lnR>
                    <a:lnT w="9525" cap="flat" cmpd="sng" algn="ctr">
                      <a:solidFill>
                        <a:srgbClr val="0F1E3C"/>
                      </a:solidFill>
                      <a:prstDash val="solid"/>
                    </a:lnT>
                    <a:lnB w="9525" cap="flat" cmpd="sng" algn="ctr">
                      <a:solidFill>
                        <a:srgbClr val="0F1E3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 anchor="ctr" marL="109728" marR="109728" marT="54864" marB="54864">
                    <a:solidFill>
                      <a:srgbClr val="142850"/>
                    </a:solidFill>
                    <a:lnL w="9525" cap="flat" cmpd="sng" algn="ctr">
                      <a:solidFill>
                        <a:srgbClr val="0F1E3C"/>
                      </a:solidFill>
                      <a:prstDash val="solid"/>
                    </a:lnL>
                    <a:lnR w="9525" cap="flat" cmpd="sng" algn="ctr">
                      <a:solidFill>
                        <a:srgbClr val="0F1E3C"/>
                      </a:solidFill>
                      <a:prstDash val="solid"/>
                    </a:lnR>
                    <a:lnT w="9525" cap="flat" cmpd="sng" algn="ctr">
                      <a:solidFill>
                        <a:srgbClr val="0F1E3C"/>
                      </a:solidFill>
                      <a:prstDash val="solid"/>
                    </a:lnT>
                    <a:lnB w="9525" cap="flat" cmpd="sng" algn="ctr">
                      <a:solidFill>
                        <a:srgbClr val="0F1E3C"/>
                      </a:solidFill>
                      <a:prstDash val="solid"/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Multi-modal signals (e.g., EMG + EOG combined)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+3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Cross-user generalization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+3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Adaptive / online learning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+2</a:t>
                      </a:r>
                    </a:p>
                  </a:txBody>
                  <a:tcPr anchor="ctr" marL="109728" marR="109728" marT="54864" marB="54864">
                    <a:solidFill>
                      <a:srgbClr val="EBF5FA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Exceptional technical depth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500" b="0">
                          <a:solidFill>
                            <a:srgbClr val="1E1E32"/>
                          </a:solidFill>
                          <a:latin typeface="Calibri"/>
                        </a:defRPr>
                      </a:pPr>
                      <a:r>
                        <a:t>+2</a:t>
                      </a:r>
                    </a:p>
                  </a:txBody>
                  <a:tcPr anchor="ctr" marL="109728" marR="109728" marT="54864" marB="54864">
                    <a:solidFill>
                      <a:srgbClr val="FFFFFF"/>
                    </a:solidFill>
                    <a:lnL w="9525" cap="flat" cmpd="sng" algn="ctr">
                      <a:solidFill>
                        <a:srgbClr val="B4C8DC"/>
                      </a:solidFill>
                      <a:prstDash val="solid"/>
                    </a:lnL>
                    <a:lnR w="9525" cap="flat" cmpd="sng" algn="ctr">
                      <a:solidFill>
                        <a:srgbClr val="B4C8DC"/>
                      </a:solidFill>
                      <a:prstDash val="solid"/>
                    </a:lnR>
                    <a:lnT w="9525" cap="flat" cmpd="sng" algn="ctr">
                      <a:solidFill>
                        <a:srgbClr val="B4C8DC"/>
                      </a:solidFill>
                      <a:prstDash val="solid"/>
                    </a:lnT>
                    <a:lnB w="9525" cap="flat" cmpd="sng" algn="ctr">
                      <a:solidFill>
                        <a:srgbClr val="B4C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303520"/>
            <a:ext cx="10424160" cy="731520"/>
          </a:xfrm>
          <a:prstGeom prst="roundRect">
            <a:avLst>
              <a:gd name="adj" fmla="val 5000"/>
            </a:avLst>
          </a:prstGeom>
          <a:solidFill>
            <a:srgbClr val="FFFAEB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4406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A500"/>
                </a:solidFill>
                <a:latin typeface="Calibri"/>
              </a:rPr>
              <a:t>★ </a:t>
            </a:r>
            <a:r>
              <a:rPr sz="1800">
                <a:solidFill>
                  <a:srgbClr val="1E1E32"/>
                </a:solidFill>
                <a:latin typeface="Calibri"/>
              </a:rPr>
              <a:t>Bonus points are awarded on top of the 100-point base score by the judges.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320040" cy="32004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Build Something Amazing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3192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D2E6"/>
                </a:solidFill>
                <a:latin typeface="Calibri"/>
              </a:defRPr>
            </a:pPr>
            <a:r>
              <a:t>Good luck! Ask mentors for help anytime.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600"/>
              </a:spcAft>
              <a:defRPr sz="1800">
                <a:solidFill>
                  <a:srgbClr val="8CA0BE"/>
                </a:solidFill>
                <a:latin typeface="Calibri"/>
              </a:defRPr>
            </a:pPr>
            <a:r>
              <a:t>WiFi: [network name / password]</a:t>
            </a:r>
          </a:p>
          <a:p>
            <a:pPr algn="ctr">
              <a:spcAft>
                <a:spcPts val="600"/>
              </a:spcAft>
              <a:defRPr sz="1800">
                <a:solidFill>
                  <a:srgbClr val="8CA0BE"/>
                </a:solidFill>
                <a:latin typeface="Calibri"/>
              </a:defRPr>
            </a:pPr>
            <a:r>
              <a:t>Repo: [github.com/your-org/hackathon-2026]</a:t>
            </a:r>
          </a:p>
          <a:p>
            <a:pPr algn="ctr">
              <a:spcAft>
                <a:spcPts val="600"/>
              </a:spcAft>
              <a:defRPr sz="1800">
                <a:solidFill>
                  <a:srgbClr val="8CA0BE"/>
                </a:solidFill>
                <a:latin typeface="Calibri"/>
              </a:defRPr>
            </a:pPr>
            <a:r>
              <a:t>Contact: [mentor emails / Slack channel]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6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